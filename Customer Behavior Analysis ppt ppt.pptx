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Gelasio Semi Bold"/>
      <p:regular r:id="rId17"/>
    </p:embeddedFont>
    <p:embeddedFont>
      <p:font typeface="Gelasio Semi Bold"/>
      <p:regular r:id="rId18"/>
    </p:embeddedFont>
    <p:embeddedFont>
      <p:font typeface="Gelasio Semi Bold"/>
      <p:regular r:id="rId19"/>
    </p:embeddedFont>
    <p:embeddedFont>
      <p:font typeface="Gelasio Semi Bold"/>
      <p:regular r:id="rId20"/>
    </p:embeddedFont>
    <p:embeddedFont>
      <p:font typeface="Gelasio"/>
      <p:regular r:id="rId21"/>
    </p:embeddedFont>
    <p:embeddedFont>
      <p:font typeface="Gelasio"/>
      <p:regular r:id="rId22"/>
    </p:embeddedFont>
    <p:embeddedFont>
      <p:font typeface="Gelasio"/>
      <p:regular r:id="rId23"/>
    </p:embeddedFont>
    <p:embeddedFont>
      <p:font typeface="Gelasio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1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Analyzing 3,900 customer transactions to uncover spending patterns, preferences, and strategic opportunities for business growth.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660684"/>
            <a:ext cx="2128004" cy="426244"/>
          </a:xfrm>
          <a:prstGeom prst="roundRect">
            <a:avLst>
              <a:gd name="adj" fmla="val 6386"/>
            </a:avLst>
          </a:prstGeom>
          <a:solidFill>
            <a:srgbClr val="ECE6DF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728668"/>
            <a:ext cx="185582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DATASET OVERVIEW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177653"/>
            <a:ext cx="103041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Understanding Our Data Foundation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3339941"/>
            <a:ext cx="304800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3,900</a:t>
            </a:r>
            <a:endParaRPr lang="en-US" sz="5850" dirty="0"/>
          </a:p>
        </p:txBody>
      </p:sp>
      <p:sp>
        <p:nvSpPr>
          <p:cNvPr id="6" name="Text 4"/>
          <p:cNvSpPr/>
          <p:nvPr/>
        </p:nvSpPr>
        <p:spPr>
          <a:xfrm>
            <a:off x="900113" y="43717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4862155"/>
            <a:ext cx="304800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Transactions analyzed across all categories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4125278" y="3339941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18</a:t>
            </a:r>
            <a:endParaRPr lang="en-US" sz="5850" dirty="0"/>
          </a:p>
        </p:txBody>
      </p:sp>
      <p:sp>
        <p:nvSpPr>
          <p:cNvPr id="9" name="Text 7"/>
          <p:cNvSpPr/>
          <p:nvPr/>
        </p:nvSpPr>
        <p:spPr>
          <a:xfrm>
            <a:off x="4231719" y="43717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Data Points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25278" y="4862155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Features tracking customer behavior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456884" y="3339941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50</a:t>
            </a:r>
            <a:endParaRPr lang="en-US" sz="5850" dirty="0"/>
          </a:p>
        </p:txBody>
      </p:sp>
      <p:sp>
        <p:nvSpPr>
          <p:cNvPr id="12" name="Text 10"/>
          <p:cNvSpPr/>
          <p:nvPr/>
        </p:nvSpPr>
        <p:spPr>
          <a:xfrm>
            <a:off x="7563326" y="43717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Locations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456884" y="4862155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Geographic distribution of customers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0788491" y="3339941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25</a:t>
            </a:r>
            <a:endParaRPr lang="en-US" sz="5850" dirty="0"/>
          </a:p>
        </p:txBody>
      </p:sp>
      <p:sp>
        <p:nvSpPr>
          <p:cNvPr id="15" name="Text 13"/>
          <p:cNvSpPr/>
          <p:nvPr/>
        </p:nvSpPr>
        <p:spPr>
          <a:xfrm>
            <a:off x="10894933" y="43717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Product Types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788491" y="4862155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Diverse items across four categories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93790" y="584311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Dataset includes customer demographics, purchase details, shopping behavior patterns, and review ratings with minimal missing data (37 values in Review Rating).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117669" y="747951"/>
            <a:ext cx="1781532" cy="354211"/>
          </a:xfrm>
          <a:prstGeom prst="roundRect">
            <a:avLst>
              <a:gd name="adj" fmla="val 6110"/>
            </a:avLst>
          </a:prstGeom>
          <a:noFill/>
          <a:ln w="7620">
            <a:solidFill>
              <a:srgbClr val="D3C5B6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3398" y="852964"/>
            <a:ext cx="144185" cy="14418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49616" y="809625"/>
            <a:ext cx="1333857" cy="230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3C5B6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PYTHON ANALYSIS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6117669" y="1174194"/>
            <a:ext cx="7133987" cy="563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Data Preparation &amp; Engineering</a:t>
            </a:r>
            <a:endParaRPr lang="en-US" sz="3550" dirty="0"/>
          </a:p>
        </p:txBody>
      </p:sp>
      <p:sp>
        <p:nvSpPr>
          <p:cNvPr id="7" name="Text 3"/>
          <p:cNvSpPr/>
          <p:nvPr/>
        </p:nvSpPr>
        <p:spPr>
          <a:xfrm>
            <a:off x="6117669" y="2008227"/>
            <a:ext cx="180261" cy="225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117669" y="2291715"/>
            <a:ext cx="7881461" cy="2286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9" name="Text 5"/>
          <p:cNvSpPr/>
          <p:nvPr/>
        </p:nvSpPr>
        <p:spPr>
          <a:xfrm>
            <a:off x="6117669" y="2427565"/>
            <a:ext cx="3095506" cy="281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Data Loading &amp; Exploration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6117669" y="2817495"/>
            <a:ext cx="7881461" cy="288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Imported dataset using pandas, examined structure with df.info() and summary statistics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117669" y="3421618"/>
            <a:ext cx="180261" cy="225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117669" y="3705106"/>
            <a:ext cx="7881461" cy="2286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3" name="Text 9"/>
          <p:cNvSpPr/>
          <p:nvPr/>
        </p:nvSpPr>
        <p:spPr>
          <a:xfrm>
            <a:off x="6117669" y="3840956"/>
            <a:ext cx="3055977" cy="281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Cleaning &amp; Standardization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6117669" y="4230886"/>
            <a:ext cx="7881461" cy="288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Imputed missing Review Ratings using median by category, standardized columns to snake case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117669" y="4835009"/>
            <a:ext cx="180261" cy="225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117669" y="5118497"/>
            <a:ext cx="7881461" cy="2286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7" name="Text 13"/>
          <p:cNvSpPr/>
          <p:nvPr/>
        </p:nvSpPr>
        <p:spPr>
          <a:xfrm>
            <a:off x="6117669" y="5254347"/>
            <a:ext cx="2278499" cy="281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Feature Engineering</a:t>
            </a:r>
            <a:endParaRPr lang="en-US" sz="1750" dirty="0"/>
          </a:p>
        </p:txBody>
      </p:sp>
      <p:sp>
        <p:nvSpPr>
          <p:cNvPr id="18" name="Text 14"/>
          <p:cNvSpPr/>
          <p:nvPr/>
        </p:nvSpPr>
        <p:spPr>
          <a:xfrm>
            <a:off x="6117669" y="5644277"/>
            <a:ext cx="7881461" cy="288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Created age_group bins and purchase_frequency_days columns for deeper analysis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6117669" y="6248400"/>
            <a:ext cx="180261" cy="225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117669" y="6531888"/>
            <a:ext cx="7881461" cy="2286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21" name="Text 17"/>
          <p:cNvSpPr/>
          <p:nvPr/>
        </p:nvSpPr>
        <p:spPr>
          <a:xfrm>
            <a:off x="6117669" y="6667738"/>
            <a:ext cx="2344817" cy="281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Database Integration</a:t>
            </a:r>
            <a:endParaRPr lang="en-US" sz="1750" dirty="0"/>
          </a:p>
        </p:txBody>
      </p:sp>
      <p:sp>
        <p:nvSpPr>
          <p:cNvPr id="22" name="Text 18"/>
          <p:cNvSpPr/>
          <p:nvPr/>
        </p:nvSpPr>
        <p:spPr>
          <a:xfrm>
            <a:off x="6117669" y="7057668"/>
            <a:ext cx="7881461" cy="288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Connected to PostgreSQL and loaded cleaned data for SQL business analysis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947499"/>
            <a:ext cx="1809631" cy="426244"/>
          </a:xfrm>
          <a:prstGeom prst="roundRect">
            <a:avLst>
              <a:gd name="adj" fmla="val 6386"/>
            </a:avLst>
          </a:prstGeom>
          <a:solidFill>
            <a:srgbClr val="ECE6D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9878" y="1069896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1015484"/>
            <a:ext cx="126527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SQL INSIGHTS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464469"/>
            <a:ext cx="791277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Revenue Analysis by Gender</a:t>
            </a:r>
            <a:endParaRPr lang="en-US" sz="4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768560"/>
            <a:ext cx="7604284" cy="425838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959096" y="2740223"/>
            <a:ext cx="4885015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Male Customers Drive Revenue</a:t>
            </a:r>
            <a:endParaRPr lang="en-US" sz="2650" dirty="0"/>
          </a:p>
        </p:txBody>
      </p:sp>
      <p:sp>
        <p:nvSpPr>
          <p:cNvPr id="8" name="Text 4"/>
          <p:cNvSpPr/>
          <p:nvPr/>
        </p:nvSpPr>
        <p:spPr>
          <a:xfrm>
            <a:off x="8959096" y="3817620"/>
            <a:ext cx="48850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Male customers generate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highlight>
                  <a:srgbClr val="D3C5B6"/>
                </a:highlight>
                <a:latin typeface="Gelasio" pitchFamily="34" charset="0"/>
                <a:ea typeface="Gelasio" pitchFamily="34" charset="-122"/>
                <a:cs typeface="Gelasio" pitchFamily="34" charset="-120"/>
              </a:rPr>
              <a:t>$157,890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in total revenue, more than double female customers at $75,191.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8959096" y="5110401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This represents a significant opportunity for targeted marketing strategies.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031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4143" y="600313"/>
            <a:ext cx="7615714" cy="1364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50"/>
              </a:lnSpc>
              <a:buNone/>
            </a:pPr>
            <a:r>
              <a:rPr lang="en-US" sz="42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Customer Segmentation Insights</a:t>
            </a:r>
            <a:endParaRPr lang="en-US" sz="4250" dirty="0"/>
          </a:p>
        </p:txBody>
      </p:sp>
      <p:sp>
        <p:nvSpPr>
          <p:cNvPr id="4" name="Shape 1"/>
          <p:cNvSpPr/>
          <p:nvPr/>
        </p:nvSpPr>
        <p:spPr>
          <a:xfrm>
            <a:off x="764143" y="2292429"/>
            <a:ext cx="3698677" cy="2436852"/>
          </a:xfrm>
          <a:prstGeom prst="roundRect">
            <a:avLst>
              <a:gd name="adj" fmla="val 1344"/>
            </a:avLst>
          </a:prstGeom>
          <a:solidFill>
            <a:srgbClr val="D3C5B6"/>
          </a:solidFill>
          <a:ln/>
        </p:spPr>
      </p:sp>
      <p:sp>
        <p:nvSpPr>
          <p:cNvPr id="5" name="Text 2"/>
          <p:cNvSpPr/>
          <p:nvPr/>
        </p:nvSpPr>
        <p:spPr>
          <a:xfrm>
            <a:off x="982385" y="2510671"/>
            <a:ext cx="2729151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Loyal Customers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982385" y="2982754"/>
            <a:ext cx="3262193" cy="349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3,116 customers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82385" y="3463052"/>
            <a:ext cx="3262193" cy="1047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largest segment showing consistent purchase behavior and brand commitment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681061" y="2292429"/>
            <a:ext cx="3698796" cy="2436852"/>
          </a:xfrm>
          <a:prstGeom prst="roundRect">
            <a:avLst>
              <a:gd name="adj" fmla="val 1344"/>
            </a:avLst>
          </a:prstGeom>
          <a:solidFill>
            <a:srgbClr val="D3C5B6"/>
          </a:solidFill>
          <a:ln/>
        </p:spPr>
      </p:sp>
      <p:sp>
        <p:nvSpPr>
          <p:cNvPr id="9" name="Text 6"/>
          <p:cNvSpPr/>
          <p:nvPr/>
        </p:nvSpPr>
        <p:spPr>
          <a:xfrm>
            <a:off x="4899303" y="2510671"/>
            <a:ext cx="2890361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Returning Customers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4899303" y="2982754"/>
            <a:ext cx="3262312" cy="349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701 customers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899303" y="3463052"/>
            <a:ext cx="3262312" cy="1047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Engaged buyers with growth potential for loyalty program conversion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64143" y="4947523"/>
            <a:ext cx="7615714" cy="1738193"/>
          </a:xfrm>
          <a:prstGeom prst="roundRect">
            <a:avLst>
              <a:gd name="adj" fmla="val 1884"/>
            </a:avLst>
          </a:prstGeom>
          <a:solidFill>
            <a:srgbClr val="D3C5B6"/>
          </a:solidFill>
          <a:ln/>
        </p:spPr>
      </p:sp>
      <p:sp>
        <p:nvSpPr>
          <p:cNvPr id="13" name="Text 10"/>
          <p:cNvSpPr/>
          <p:nvPr/>
        </p:nvSpPr>
        <p:spPr>
          <a:xfrm>
            <a:off x="982385" y="5165765"/>
            <a:ext cx="2729151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New Customers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982385" y="5637848"/>
            <a:ext cx="7179231" cy="349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83 customers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982385" y="6118146"/>
            <a:ext cx="7179231" cy="349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Fresh acquisition opportunities requiring nurturing strategies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764143" y="6931343"/>
            <a:ext cx="7615714" cy="698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Customers with more than 5 purchases show strong subscription potential, with 958 repeat buyers already subscribed versus 2,518 non-subscribers.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949881"/>
            <a:ext cx="2596396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D3C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7498" y="1025485"/>
            <a:ext cx="230897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D3C5B6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PRODUCT PERFORMANCE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482090"/>
            <a:ext cx="925877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Top-Rated Products &amp; Categories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2757845"/>
            <a:ext cx="342042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Highest Rated Items</a:t>
            </a:r>
            <a:endParaRPr lang="en-US" sz="2650" dirty="0"/>
          </a:p>
        </p:txBody>
      </p:sp>
      <p:sp>
        <p:nvSpPr>
          <p:cNvPr id="6" name="Shape 4"/>
          <p:cNvSpPr/>
          <p:nvPr/>
        </p:nvSpPr>
        <p:spPr>
          <a:xfrm>
            <a:off x="793790" y="3558778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D3C5B6"/>
          </a:solidFill>
          <a:ln/>
        </p:spPr>
      </p:sp>
      <p:sp>
        <p:nvSpPr>
          <p:cNvPr id="7" name="Text 5"/>
          <p:cNvSpPr/>
          <p:nvPr/>
        </p:nvSpPr>
        <p:spPr>
          <a:xfrm>
            <a:off x="1133951" y="34382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Gloves - 3.86 rating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93790" y="4366736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D3C5B6"/>
          </a:solidFill>
          <a:ln/>
        </p:spPr>
      </p:sp>
      <p:sp>
        <p:nvSpPr>
          <p:cNvPr id="9" name="Text 7"/>
          <p:cNvSpPr/>
          <p:nvPr/>
        </p:nvSpPr>
        <p:spPr>
          <a:xfrm>
            <a:off x="1133951" y="4246245"/>
            <a:ext cx="28820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Sandals - 3.84 rating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93790" y="5174694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D3C5B6"/>
          </a:solidFill>
          <a:ln/>
        </p:spPr>
      </p:sp>
      <p:sp>
        <p:nvSpPr>
          <p:cNvPr id="11" name="Text 9"/>
          <p:cNvSpPr/>
          <p:nvPr/>
        </p:nvSpPr>
        <p:spPr>
          <a:xfrm>
            <a:off x="1133951" y="50542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Boots - 3.82 rating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93790" y="5982652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D3C5B6"/>
          </a:solidFill>
          <a:ln/>
        </p:spPr>
      </p:sp>
      <p:sp>
        <p:nvSpPr>
          <p:cNvPr id="13" name="Text 11"/>
          <p:cNvSpPr/>
          <p:nvPr/>
        </p:nvSpPr>
        <p:spPr>
          <a:xfrm>
            <a:off x="1133951" y="58621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Hat - 3.80 rating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93790" y="6790611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D3C5B6"/>
          </a:solidFill>
          <a:ln/>
        </p:spPr>
      </p:sp>
      <p:sp>
        <p:nvSpPr>
          <p:cNvPr id="15" name="Text 13"/>
          <p:cNvSpPr/>
          <p:nvPr/>
        </p:nvSpPr>
        <p:spPr>
          <a:xfrm>
            <a:off x="1133951" y="66701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Skirt - 3.78 rating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599521" y="275784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Category Leaders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7599521" y="340995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Clothing: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Blouse (171 orders), Pants (171), Shirt (169)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599521" y="385214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Accessories: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Jewelry (171), Sunglasses (161), Belt (161)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599521" y="429434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Footwear: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Sandals (160), Shoes (150), Sneakers (145)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599521" y="473654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Outerwear: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Jacket (163), Coat (161)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2796" y="363617"/>
            <a:ext cx="4346615" cy="413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Discount Strategy Analysis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034308" y="1900833"/>
            <a:ext cx="1626632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50%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5833" y="1074301"/>
            <a:ext cx="1983700" cy="19837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021092" y="3223141"/>
            <a:ext cx="1653064" cy="206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Hats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62796" y="3509010"/>
            <a:ext cx="6769775" cy="211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Highest discount rate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969341" y="1900833"/>
            <a:ext cx="1626632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49.7%</a:t>
            </a:r>
            <a:endParaRPr lang="en-US" sz="2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0867" y="1074301"/>
            <a:ext cx="1983700" cy="19837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956125" y="3223141"/>
            <a:ext cx="1653064" cy="206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Sneakers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397829" y="3509010"/>
            <a:ext cx="6769775" cy="211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Second most discounted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034308" y="4844534"/>
            <a:ext cx="1626632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49.1%</a:t>
            </a:r>
            <a:endParaRPr lang="en-US" sz="26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5833" y="4018002"/>
            <a:ext cx="1983700" cy="19837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021092" y="6166842"/>
            <a:ext cx="1653064" cy="206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Coats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462796" y="6452711"/>
            <a:ext cx="6769775" cy="211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Heavy discount dependency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9969341" y="4844534"/>
            <a:ext cx="1626632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48.2%</a:t>
            </a:r>
            <a:endParaRPr lang="en-US" sz="26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0867" y="4018002"/>
            <a:ext cx="1983700" cy="19837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956125" y="6166842"/>
            <a:ext cx="1653064" cy="206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Sweaters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7397829" y="6452711"/>
            <a:ext cx="6769775" cy="211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Frequent promotions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462796" y="6945154"/>
            <a:ext cx="1983700" cy="247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Smart Spenders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462796" y="7325201"/>
            <a:ext cx="6691074" cy="423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839 customers used discounts but still spent above the $59.76 average purchase amount, ranging from $62 to $97 per transaction.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7484150" y="6945154"/>
            <a:ext cx="1983700" cy="247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Shipping Insights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7484150" y="7325201"/>
            <a:ext cx="6691074" cy="211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Express shipping customers spend </a:t>
            </a:r>
            <a:pPr algn="l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746558"/>
                </a:solidFill>
                <a:highlight>
                  <a:srgbClr val="DECEBB"/>
                </a:highlight>
                <a:latin typeface="Gelasio" pitchFamily="34" charset="0"/>
                <a:ea typeface="Gelasio" pitchFamily="34" charset="-122"/>
                <a:cs typeface="Gelasio" pitchFamily="34" charset="-120"/>
              </a:rPr>
              <a:t>$60.48</a:t>
            </a:r>
            <a:pPr algn="l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on average versus $58.46 for standard shipping.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0183" y="400883"/>
            <a:ext cx="1304092" cy="274082"/>
          </a:xfrm>
          <a:prstGeom prst="roundRect">
            <a:avLst>
              <a:gd name="adj" fmla="val 6383"/>
            </a:avLst>
          </a:prstGeom>
          <a:solidFill>
            <a:srgbClr val="ECE6D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7575" y="479584"/>
            <a:ext cx="116562" cy="1165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2358" y="444579"/>
            <a:ext cx="954524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DEMOGRAPHICS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10183" y="735330"/>
            <a:ext cx="4063246" cy="455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8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Revenue by Age Group</a:t>
            </a:r>
            <a:endParaRPr lang="en-US" sz="28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183" y="1409462"/>
            <a:ext cx="13610034" cy="76215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0183" y="9194959"/>
            <a:ext cx="13610034" cy="233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Young adults lead revenue generation at $62,143, followed closely by middle-aged customers. Distribution is relatively balanced across all age groups, suggesting broad market appeal.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3615690"/>
            <a:ext cx="1460778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D3C5B6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498" y="3745706"/>
            <a:ext cx="181451" cy="18145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09675" y="3691295"/>
            <a:ext cx="90118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D3C5B6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POWER BI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793790" y="4147899"/>
            <a:ext cx="903624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Interactive Dashboard Overview</a:t>
            </a:r>
            <a:endParaRPr lang="en-US" sz="4450" dirty="0"/>
          </a:p>
        </p:txBody>
      </p:sp>
      <p:sp>
        <p:nvSpPr>
          <p:cNvPr id="7" name="Shape 3"/>
          <p:cNvSpPr/>
          <p:nvPr/>
        </p:nvSpPr>
        <p:spPr>
          <a:xfrm>
            <a:off x="793790" y="5196840"/>
            <a:ext cx="4196358" cy="2252305"/>
          </a:xfrm>
          <a:prstGeom prst="roundRect">
            <a:avLst>
              <a:gd name="adj" fmla="val 1511"/>
            </a:avLst>
          </a:prstGeom>
          <a:solidFill>
            <a:srgbClr val="F9F6F0"/>
          </a:solidFill>
          <a:ln w="30480">
            <a:solidFill>
              <a:srgbClr val="D4CEC3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51084" y="54541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Key Metrics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051084" y="5944553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3.9K customers tracked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1051084" y="6386751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$59.76 average purchase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51084" y="6828949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3.75 average rating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5216962" y="5196840"/>
            <a:ext cx="4196358" cy="2252305"/>
          </a:xfrm>
          <a:prstGeom prst="roundRect">
            <a:avLst>
              <a:gd name="adj" fmla="val 1511"/>
            </a:avLst>
          </a:prstGeom>
          <a:solidFill>
            <a:srgbClr val="F9F6F0"/>
          </a:solidFill>
          <a:ln w="30480">
            <a:solidFill>
              <a:srgbClr val="D4CEC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474256" y="54541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Subscription Split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5474256" y="5944553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3C5B6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27%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subscribed customers versus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73%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non-subscribers</a:t>
            </a:r>
            <a:endParaRPr lang="en-US" sz="1750" dirty="0"/>
          </a:p>
        </p:txBody>
      </p:sp>
      <p:sp>
        <p:nvSpPr>
          <p:cNvPr id="15" name="Shape 11"/>
          <p:cNvSpPr/>
          <p:nvPr/>
        </p:nvSpPr>
        <p:spPr>
          <a:xfrm>
            <a:off x="9640133" y="5196840"/>
            <a:ext cx="4196358" cy="2252305"/>
          </a:xfrm>
          <a:prstGeom prst="roundRect">
            <a:avLst>
              <a:gd name="adj" fmla="val 1511"/>
            </a:avLst>
          </a:prstGeom>
          <a:solidFill>
            <a:srgbClr val="F9F6F0"/>
          </a:solidFill>
          <a:ln w="30480">
            <a:solidFill>
              <a:srgbClr val="D4CEC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97427" y="54541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Dynamic Filters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9897427" y="5944553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Analyze by subscription status, gender, category, and shipping type for deep insights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031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174700" y="540782"/>
            <a:ext cx="1283613" cy="369451"/>
          </a:xfrm>
          <a:prstGeom prst="roundRect">
            <a:avLst>
              <a:gd name="adj" fmla="val 6388"/>
            </a:avLst>
          </a:prstGeom>
          <a:solidFill>
            <a:srgbClr val="D3C5B6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2691" y="646867"/>
            <a:ext cx="157282" cy="15728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28554" y="599718"/>
            <a:ext cx="811768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STRATEGY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6174700" y="988814"/>
            <a:ext cx="6824543" cy="614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Business Recommendations</a:t>
            </a:r>
            <a:endParaRPr lang="en-US" sz="38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4700" y="1898333"/>
            <a:ext cx="983337" cy="14478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54610" y="2094905"/>
            <a:ext cx="2458283" cy="307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Boost Subscriptions</a:t>
            </a:r>
            <a:endParaRPr lang="en-US" sz="1900" dirty="0"/>
          </a:p>
        </p:txBody>
      </p:sp>
      <p:sp>
        <p:nvSpPr>
          <p:cNvPr id="9" name="Text 4"/>
          <p:cNvSpPr/>
          <p:nvPr/>
        </p:nvSpPr>
        <p:spPr>
          <a:xfrm>
            <a:off x="7354610" y="2520196"/>
            <a:ext cx="6587490" cy="629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Promote exclusive benefits to convert the 73% non-subscriber base, especially among repeat buyers</a:t>
            </a:r>
            <a:endParaRPr lang="en-US" sz="15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4700" y="3346133"/>
            <a:ext cx="983337" cy="14478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354610" y="3542705"/>
            <a:ext cx="3387447" cy="307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Customer Loyalty Programs</a:t>
            </a:r>
            <a:endParaRPr lang="en-US" sz="1900" dirty="0"/>
          </a:p>
        </p:txBody>
      </p:sp>
      <p:sp>
        <p:nvSpPr>
          <p:cNvPr id="12" name="Text 6"/>
          <p:cNvSpPr/>
          <p:nvPr/>
        </p:nvSpPr>
        <p:spPr>
          <a:xfrm>
            <a:off x="7354610" y="3967996"/>
            <a:ext cx="6587490" cy="629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Reward the 701 returning customers to accelerate their transition into the loyal segment</a:t>
            </a:r>
            <a:endParaRPr lang="en-US" sz="15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4700" y="4793933"/>
            <a:ext cx="983337" cy="14478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354610" y="4990505"/>
            <a:ext cx="2822496" cy="307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Review Discount Policy</a:t>
            </a:r>
            <a:endParaRPr lang="en-US" sz="1900" dirty="0"/>
          </a:p>
        </p:txBody>
      </p:sp>
      <p:sp>
        <p:nvSpPr>
          <p:cNvPr id="15" name="Text 8"/>
          <p:cNvSpPr/>
          <p:nvPr/>
        </p:nvSpPr>
        <p:spPr>
          <a:xfrm>
            <a:off x="7354610" y="5415796"/>
            <a:ext cx="6587490" cy="629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Balance promotional sales boosts with margin control, especially for high-discount products</a:t>
            </a:r>
            <a:endParaRPr lang="en-US" sz="15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4700" y="6241733"/>
            <a:ext cx="983337" cy="14478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354610" y="6438305"/>
            <a:ext cx="2458283" cy="307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Targeted Marketing</a:t>
            </a:r>
            <a:endParaRPr lang="en-US" sz="1900" dirty="0"/>
          </a:p>
        </p:txBody>
      </p:sp>
      <p:sp>
        <p:nvSpPr>
          <p:cNvPr id="18" name="Text 10"/>
          <p:cNvSpPr/>
          <p:nvPr/>
        </p:nvSpPr>
        <p:spPr>
          <a:xfrm>
            <a:off x="7354610" y="6863596"/>
            <a:ext cx="6587490" cy="629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Focus campaigns on young adults, express-shipping users, and top-rated products like gloves and sandals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2025-12-31T19:43:17Z</dcterms:created>
  <dcterms:modified xsi:type="dcterms:W3CDTF">2025-12-31T19:43:17Z</dcterms:modified>
</cp:coreProperties>
</file>